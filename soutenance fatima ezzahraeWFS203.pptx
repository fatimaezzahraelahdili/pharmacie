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Maragsa" charset="1" panose="00000000000000000000"/>
      <p:regular r:id="rId34"/>
    </p:embeddedFont>
    <p:embeddedFont>
      <p:font typeface="Harmattan" charset="1" panose="010005030000000200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313598" y="4143298"/>
            <a:ext cx="17518700" cy="2371011"/>
          </a:xfrm>
          <a:prstGeom prst="rect">
            <a:avLst/>
          </a:prstGeom>
        </p:spPr>
        <p:txBody>
          <a:bodyPr anchor="t" rtlCol="false" tIns="0" lIns="0" bIns="0" rIns="0">
            <a:spAutoFit/>
          </a:bodyPr>
          <a:lstStyle/>
          <a:p>
            <a:pPr algn="ctr">
              <a:lnSpc>
                <a:spcPts val="9489"/>
              </a:lnSpc>
            </a:pPr>
            <a:r>
              <a:rPr lang="en-US" sz="6778">
                <a:solidFill>
                  <a:srgbClr val="FCFCE4"/>
                </a:solidFill>
                <a:latin typeface="Maragsa"/>
                <a:ea typeface="Maragsa"/>
                <a:cs typeface="Maragsa"/>
                <a:sym typeface="Maragsa"/>
              </a:rPr>
              <a:t> PLATEFORME  E-COMMERCE  DE  GESTION PHARMACEUTIQUE.</a:t>
            </a:r>
          </a:p>
        </p:txBody>
      </p:sp>
      <p:sp>
        <p:nvSpPr>
          <p:cNvPr name="TextBox 6" id="6"/>
          <p:cNvSpPr txBox="true"/>
          <p:nvPr/>
        </p:nvSpPr>
        <p:spPr>
          <a:xfrm rot="0">
            <a:off x="5157780" y="2984935"/>
            <a:ext cx="7972440"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Web Full-Stack | mars 2026</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2642214" y="47653"/>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grpSp>
        <p:nvGrpSpPr>
          <p:cNvPr name="Group 9" id="9"/>
          <p:cNvGrpSpPr/>
          <p:nvPr/>
        </p:nvGrpSpPr>
        <p:grpSpPr>
          <a:xfrm rot="0">
            <a:off x="5311271" y="6864971"/>
            <a:ext cx="7665458" cy="1509967"/>
            <a:chOff x="0" y="0"/>
            <a:chExt cx="10220611" cy="2013289"/>
          </a:xfrm>
        </p:grpSpPr>
        <p:sp>
          <p:nvSpPr>
            <p:cNvPr name="TextBox 10" id="10"/>
            <p:cNvSpPr txBox="true"/>
            <p:nvPr/>
          </p:nvSpPr>
          <p:spPr>
            <a:xfrm rot="0">
              <a:off x="0" y="-85725"/>
              <a:ext cx="10220611" cy="10001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TextBox 11" id="11"/>
            <p:cNvSpPr txBox="true"/>
            <p:nvPr/>
          </p:nvSpPr>
          <p:spPr>
            <a:xfrm rot="0">
              <a:off x="0" y="1013164"/>
              <a:ext cx="10220611" cy="10001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Encadré par Rachid Idga Moumen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annexe</a:t>
            </a:r>
          </a:p>
        </p:txBody>
      </p:sp>
      <p:sp>
        <p:nvSpPr>
          <p:cNvPr name="TextBox 7" id="7"/>
          <p:cNvSpPr txBox="true"/>
          <p:nvPr/>
        </p:nvSpPr>
        <p:spPr>
          <a:xfrm rot="0">
            <a:off x="12273919" y="962025"/>
            <a:ext cx="4985381" cy="523875"/>
          </a:xfrm>
          <a:prstGeom prst="rect">
            <a:avLst/>
          </a:prstGeom>
        </p:spPr>
        <p:txBody>
          <a:bodyPr anchor="t" rtlCol="false" tIns="0" lIns="0" bIns="0" rIns="0">
            <a:spAutoFit/>
          </a:bodyPr>
          <a:lstStyle/>
          <a:p>
            <a:pPr algn="r">
              <a:lnSpc>
                <a:spcPts val="4200"/>
              </a:lnSpc>
            </a:pPr>
            <a:r>
              <a:rPr lang="en-US" sz="3000">
                <a:solidFill>
                  <a:srgbClr val="FCFCE4"/>
                </a:solidFill>
                <a:latin typeface="Harmattan"/>
                <a:ea typeface="Harmattan"/>
                <a:cs typeface="Harmattan"/>
                <a:sym typeface="Harmattan"/>
              </a:rPr>
              <a:t>Présenté par Fatima ezzahrae Lahdili</a:t>
            </a:r>
          </a:p>
        </p:txBody>
      </p:sp>
      <p:sp>
        <p:nvSpPr>
          <p:cNvPr name="TextBox 8" id="8"/>
          <p:cNvSpPr txBox="true"/>
          <p:nvPr/>
        </p:nvSpPr>
        <p:spPr>
          <a:xfrm rot="0">
            <a:off x="3433988" y="3272875"/>
            <a:ext cx="11420023" cy="56134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FCFCE4"/>
                </a:solidFill>
                <a:latin typeface="Harmattan"/>
                <a:ea typeface="Harmattan"/>
                <a:cs typeface="Harmattan"/>
                <a:sym typeface="Harmattan"/>
              </a:rPr>
              <a:t>Introduction &amp; Presentation de l’entreprise</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Contexte &amp; Objectif</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Problematique &amp; Solution</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Analyse et Conception</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Technologies utiliser</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Demanstration de la realisation</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Bilan &amp; Difficultés</a:t>
            </a:r>
          </a:p>
          <a:p>
            <a:pPr algn="l" marL="863599" indent="-431800" lvl="1">
              <a:lnSpc>
                <a:spcPts val="5599"/>
              </a:lnSpc>
              <a:buFont typeface="Arial"/>
              <a:buChar char="•"/>
            </a:pPr>
            <a:r>
              <a:rPr lang="en-US" sz="3999">
                <a:solidFill>
                  <a:srgbClr val="FCFCE4"/>
                </a:solidFill>
                <a:latin typeface="Harmattan"/>
                <a:ea typeface="Harmattan"/>
                <a:cs typeface="Harmattan"/>
                <a:sym typeface="Harmattan"/>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1566772" y="3299028"/>
            <a:ext cx="15154456" cy="348932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 Introduction  &amp;</a:t>
            </a:r>
          </a:p>
          <a:p>
            <a:pPr algn="ctr">
              <a:lnSpc>
                <a:spcPts val="13999"/>
              </a:lnSpc>
            </a:pPr>
            <a:r>
              <a:rPr lang="en-US" sz="9999">
                <a:solidFill>
                  <a:srgbClr val="FCFCE4"/>
                </a:solidFill>
                <a:latin typeface="Maragsa"/>
                <a:ea typeface="Maragsa"/>
                <a:cs typeface="Maragsa"/>
                <a:sym typeface="Maragsa"/>
              </a:rPr>
              <a:t>Presentation de l’entreprise</a:t>
            </a:r>
          </a:p>
        </p:txBody>
      </p:sp>
      <p:sp>
        <p:nvSpPr>
          <p:cNvPr name="TextBox 6" id="6"/>
          <p:cNvSpPr txBox="true"/>
          <p:nvPr/>
        </p:nvSpPr>
        <p:spPr>
          <a:xfrm rot="0">
            <a:off x="5164322" y="7159625"/>
            <a:ext cx="7675147"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0"/>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Introduction</a:t>
            </a:r>
          </a:p>
        </p:txBody>
      </p:sp>
      <p:sp>
        <p:nvSpPr>
          <p:cNvPr name="TextBox 7" id="7"/>
          <p:cNvSpPr txBox="true"/>
          <p:nvPr/>
        </p:nvSpPr>
        <p:spPr>
          <a:xfrm rot="0">
            <a:off x="3083844" y="4110020"/>
            <a:ext cx="12120313" cy="4203700"/>
          </a:xfrm>
          <a:prstGeom prst="rect">
            <a:avLst/>
          </a:prstGeom>
        </p:spPr>
        <p:txBody>
          <a:bodyPr anchor="t" rtlCol="false" tIns="0" lIns="0" bIns="0" rIns="0">
            <a:spAutoFit/>
          </a:bodyPr>
          <a:lstStyle/>
          <a:p>
            <a:pPr algn="ctr">
              <a:lnSpc>
                <a:spcPts val="5599"/>
              </a:lnSpc>
            </a:pPr>
            <a:r>
              <a:rPr lang="en-US" sz="3999">
                <a:solidFill>
                  <a:srgbClr val="FCFCE4"/>
                </a:solidFill>
                <a:latin typeface="Harmattan"/>
                <a:ea typeface="Harmattan"/>
                <a:cs typeface="Harmattan"/>
                <a:sym typeface="Harmattan"/>
              </a:rPr>
              <a:t>Ce projet, réalisé au sein de la Pharmacie Rhamna, s'inscrit dans le cadre de la transformation digitale du secteur de la santé au Maroc. L'objectif est de concevoir une solution web innovante pour automatiser la gestion des stocks et optimiser le service client à Skhour Rhamna, tout en consolidant mes acquis techniques en développement full-stack.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3365530" y="2985540"/>
            <a:ext cx="12677192" cy="1443992"/>
          </a:xfrm>
          <a:prstGeom prst="rect">
            <a:avLst/>
          </a:prstGeom>
        </p:spPr>
        <p:txBody>
          <a:bodyPr anchor="t" rtlCol="false" tIns="0" lIns="0" bIns="0" rIns="0">
            <a:spAutoFit/>
          </a:bodyPr>
          <a:lstStyle/>
          <a:p>
            <a:pPr algn="ctr">
              <a:lnSpc>
                <a:spcPts val="11759"/>
              </a:lnSpc>
            </a:pPr>
            <a:r>
              <a:rPr lang="en-US" sz="8399">
                <a:solidFill>
                  <a:srgbClr val="FCFCE4"/>
                </a:solidFill>
                <a:latin typeface="Maragsa"/>
                <a:ea typeface="Maragsa"/>
                <a:cs typeface="Maragsa"/>
                <a:sym typeface="Maragsa"/>
              </a:rPr>
              <a:t>Presentation de l’entreprise</a:t>
            </a:r>
          </a:p>
        </p:txBody>
      </p:sp>
      <p:sp>
        <p:nvSpPr>
          <p:cNvPr name="TextBox 7" id="7"/>
          <p:cNvSpPr txBox="true"/>
          <p:nvPr/>
        </p:nvSpPr>
        <p:spPr>
          <a:xfrm rot="0">
            <a:off x="3083844" y="5782706"/>
            <a:ext cx="12120313" cy="2089150"/>
          </a:xfrm>
          <a:prstGeom prst="rect">
            <a:avLst/>
          </a:prstGeom>
        </p:spPr>
        <p:txBody>
          <a:bodyPr anchor="t" rtlCol="false" tIns="0" lIns="0" bIns="0" rIns="0">
            <a:spAutoFit/>
          </a:bodyPr>
          <a:lstStyle/>
          <a:p>
            <a:pPr algn="ctr">
              <a:lnSpc>
                <a:spcPts val="5599"/>
              </a:lnSpc>
            </a:pPr>
            <a:r>
              <a:rPr lang="en-US" sz="3999">
                <a:solidFill>
                  <a:srgbClr val="FCFCE4"/>
                </a:solidFill>
                <a:latin typeface="Harmattan"/>
                <a:ea typeface="Harmattan"/>
                <a:cs typeface="Harmattan"/>
                <a:sym typeface="Harmattan"/>
              </a:rPr>
              <a:t>La Pharmacie Rhamna est un établissement de santé de proximité situé à Skhour Rhamna. Elle joue un rôle vital dans la distribution de médicaments et le conseil médical aux habitants de la région.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1028700" y="4184650"/>
            <a:ext cx="16230600"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Contexte &amp; Objectif</a:t>
            </a:r>
          </a:p>
        </p:txBody>
      </p:sp>
      <p:sp>
        <p:nvSpPr>
          <p:cNvPr name="TextBox 6" id="6"/>
          <p:cNvSpPr txBox="true"/>
          <p:nvPr/>
        </p:nvSpPr>
        <p:spPr>
          <a:xfrm rot="0">
            <a:off x="5368586" y="6428584"/>
            <a:ext cx="7550827"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0"/>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52076"/>
            <a:ext cx="8010026" cy="1543056"/>
          </a:xfrm>
          <a:prstGeom prst="rect">
            <a:avLst/>
          </a:prstGeom>
        </p:spPr>
        <p:txBody>
          <a:bodyPr anchor="t" rtlCol="false" tIns="0" lIns="0" bIns="0" rIns="0">
            <a:spAutoFit/>
          </a:bodyPr>
          <a:lstStyle/>
          <a:p>
            <a:pPr algn="ctr">
              <a:lnSpc>
                <a:spcPts val="12599"/>
              </a:lnSpc>
            </a:pPr>
            <a:r>
              <a:rPr lang="en-US" sz="8999">
                <a:solidFill>
                  <a:srgbClr val="FCFCE4"/>
                </a:solidFill>
                <a:latin typeface="Maragsa"/>
                <a:ea typeface="Maragsa"/>
                <a:cs typeface="Maragsa"/>
                <a:sym typeface="Maragsa"/>
              </a:rPr>
              <a:t>Contexte </a:t>
            </a:r>
          </a:p>
        </p:txBody>
      </p:sp>
      <p:sp>
        <p:nvSpPr>
          <p:cNvPr name="TextBox 7" id="7"/>
          <p:cNvSpPr txBox="true"/>
          <p:nvPr/>
        </p:nvSpPr>
        <p:spPr>
          <a:xfrm rot="0">
            <a:off x="2383526" y="4110020"/>
            <a:ext cx="13520947" cy="34988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Actuellement, la gestion de nombreuses pharmacies locales repose encore sur des méthodes manuelles ou des systèmes limités. Mon projet intervient pour apporter une solution moderne, basée sur les technologies web (Laravel &amp; React), permettant une gestion centralisée, sécurisée et accessible en temps réel.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222831"/>
            <a:ext cx="8010026" cy="1543056"/>
          </a:xfrm>
          <a:prstGeom prst="rect">
            <a:avLst/>
          </a:prstGeom>
        </p:spPr>
        <p:txBody>
          <a:bodyPr anchor="t" rtlCol="false" tIns="0" lIns="0" bIns="0" rIns="0">
            <a:spAutoFit/>
          </a:bodyPr>
          <a:lstStyle/>
          <a:p>
            <a:pPr algn="ctr">
              <a:lnSpc>
                <a:spcPts val="12599"/>
              </a:lnSpc>
            </a:pPr>
            <a:r>
              <a:rPr lang="en-US" sz="8999">
                <a:solidFill>
                  <a:srgbClr val="FCFCE4"/>
                </a:solidFill>
                <a:latin typeface="Maragsa"/>
                <a:ea typeface="Maragsa"/>
                <a:cs typeface="Maragsa"/>
                <a:sym typeface="Maragsa"/>
              </a:rPr>
              <a:t> Objectif</a:t>
            </a:r>
          </a:p>
        </p:txBody>
      </p:sp>
      <p:sp>
        <p:nvSpPr>
          <p:cNvPr name="TextBox 7" id="7"/>
          <p:cNvSpPr txBox="true"/>
          <p:nvPr/>
        </p:nvSpPr>
        <p:spPr>
          <a:xfrm rot="0">
            <a:off x="2383526" y="3366531"/>
            <a:ext cx="13520947" cy="49085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L'objectif majeur de ce projet est de mettre en place une plateforme web intuitive dédiée à la modernisation de la gestion pharmaceutique. Cette solution vise à automatiser le suivi des stocks, à sécuriser l'enregistrement des ventes et à offrir un contrôle total via une interface administrateur performante. En éliminant les processus manuels, l'application permet d'optimiser le temps de travail et de minimiser les erreurs humaines pour une meilleure efficacité opérationnelle.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2383526" y="4009355"/>
            <a:ext cx="12981836"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Problematique &amp; Solution</a:t>
            </a:r>
          </a:p>
        </p:txBody>
      </p:sp>
      <p:sp>
        <p:nvSpPr>
          <p:cNvPr name="TextBox 6" id="6"/>
          <p:cNvSpPr txBox="true"/>
          <p:nvPr/>
        </p:nvSpPr>
        <p:spPr>
          <a:xfrm rot="0">
            <a:off x="5157780" y="6085684"/>
            <a:ext cx="7675147"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103505"/>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Problem</a:t>
            </a:r>
          </a:p>
        </p:txBody>
      </p:sp>
      <p:sp>
        <p:nvSpPr>
          <p:cNvPr name="TextBox 7" id="7"/>
          <p:cNvSpPr txBox="true"/>
          <p:nvPr/>
        </p:nvSpPr>
        <p:spPr>
          <a:xfrm rot="0">
            <a:off x="2184326" y="3688802"/>
            <a:ext cx="6609557" cy="49085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Actuellement, la pharmacie repose sur une gestion traditionnelle et manuelle basée sur des supports papier. Cette méthode entraîne une lenteur opérationnelle considérable et rend le suivi des stocks très difficile en temps réel</a:t>
            </a:r>
          </a:p>
        </p:txBody>
      </p:sp>
      <p:sp>
        <p:nvSpPr>
          <p:cNvPr name="TextBox 8" id="8"/>
          <p:cNvSpPr txBox="true"/>
          <p:nvPr/>
        </p:nvSpPr>
        <p:spPr>
          <a:xfrm rot="0">
            <a:off x="10002868" y="3774773"/>
            <a:ext cx="6609557" cy="34988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De plus, les clients manquent de visibilité sur la disponibilité des médicaments, ce qui crée un besoin urgent d'une solution numérique centralisée.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Solution</a:t>
            </a:r>
          </a:p>
        </p:txBody>
      </p:sp>
      <p:sp>
        <p:nvSpPr>
          <p:cNvPr name="TextBox 7" id="7"/>
          <p:cNvSpPr txBox="true"/>
          <p:nvPr/>
        </p:nvSpPr>
        <p:spPr>
          <a:xfrm rot="0">
            <a:off x="2184326" y="3688802"/>
            <a:ext cx="6609557" cy="49085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Pour répondre à ces défis, j'ai conçu une application web Full-Stack performante. Cette solution offre une boutique en ligne intuitive permettant aux clients de consulter le catalogue et de rechercher des produits facilement</a:t>
            </a:r>
          </a:p>
        </p:txBody>
      </p:sp>
      <p:sp>
        <p:nvSpPr>
          <p:cNvPr name="TextBox 8" id="8"/>
          <p:cNvSpPr txBox="true"/>
          <p:nvPr/>
        </p:nvSpPr>
        <p:spPr>
          <a:xfrm rot="0">
            <a:off x="10002868" y="3774773"/>
            <a:ext cx="6609557" cy="3498850"/>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En parallèle, un espace administrateur sécurisé permet une gestion automatisée et précise du stock, garantissant ainsi une meilleure efficacité au quotidien.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2682578" y="4180805"/>
            <a:ext cx="12981836"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Analyse et Conception</a:t>
            </a:r>
          </a:p>
        </p:txBody>
      </p:sp>
      <p:sp>
        <p:nvSpPr>
          <p:cNvPr name="TextBox 6" id="6"/>
          <p:cNvSpPr txBox="true"/>
          <p:nvPr/>
        </p:nvSpPr>
        <p:spPr>
          <a:xfrm rot="0">
            <a:off x="5233829" y="6844998"/>
            <a:ext cx="7879335"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45752"/>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2897852" y="1891261"/>
            <a:ext cx="9170160" cy="7367039"/>
          </a:xfrm>
          <a:custGeom>
            <a:avLst/>
            <a:gdLst/>
            <a:ahLst/>
            <a:cxnLst/>
            <a:rect r="r" b="b" t="t" l="l"/>
            <a:pathLst>
              <a:path h="7367039" w="9170160">
                <a:moveTo>
                  <a:pt x="0" y="0"/>
                </a:moveTo>
                <a:lnTo>
                  <a:pt x="9170161" y="0"/>
                </a:lnTo>
                <a:lnTo>
                  <a:pt x="9170161" y="7367039"/>
                </a:lnTo>
                <a:lnTo>
                  <a:pt x="0" y="7367039"/>
                </a:lnTo>
                <a:lnTo>
                  <a:pt x="0" y="0"/>
                </a:lnTo>
                <a:close/>
              </a:path>
            </a:pathLst>
          </a:custGeom>
          <a:blipFill>
            <a:blip r:embed="rId8"/>
            <a:stretch>
              <a:fillRect l="0" t="0" r="0" b="0"/>
            </a:stretch>
          </a:blipFill>
        </p:spPr>
      </p:sp>
      <p:sp>
        <p:nvSpPr>
          <p:cNvPr name="TextBox 7" id="7"/>
          <p:cNvSpPr txBox="true"/>
          <p:nvPr/>
        </p:nvSpPr>
        <p:spPr>
          <a:xfrm rot="0">
            <a:off x="4990751" y="513312"/>
            <a:ext cx="1259117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diagramme de cas d’utilisation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2884324" y="1910685"/>
            <a:ext cx="7227705" cy="7864629"/>
          </a:xfrm>
          <a:custGeom>
            <a:avLst/>
            <a:gdLst/>
            <a:ahLst/>
            <a:cxnLst/>
            <a:rect r="r" b="b" t="t" l="l"/>
            <a:pathLst>
              <a:path h="7864629" w="7227705">
                <a:moveTo>
                  <a:pt x="0" y="0"/>
                </a:moveTo>
                <a:lnTo>
                  <a:pt x="7227704" y="0"/>
                </a:lnTo>
                <a:lnTo>
                  <a:pt x="7227704" y="7864629"/>
                </a:lnTo>
                <a:lnTo>
                  <a:pt x="0" y="7864629"/>
                </a:lnTo>
                <a:lnTo>
                  <a:pt x="0" y="0"/>
                </a:lnTo>
                <a:close/>
              </a:path>
            </a:pathLst>
          </a:custGeom>
          <a:blipFill>
            <a:blip r:embed="rId8"/>
            <a:stretch>
              <a:fillRect l="0" t="0" r="0" b="0"/>
            </a:stretch>
          </a:blipFill>
        </p:spPr>
      </p:sp>
      <p:sp>
        <p:nvSpPr>
          <p:cNvPr name="TextBox 7" id="7"/>
          <p:cNvSpPr txBox="true"/>
          <p:nvPr/>
        </p:nvSpPr>
        <p:spPr>
          <a:xfrm rot="0">
            <a:off x="6943561" y="532736"/>
            <a:ext cx="10549291"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diagramme de class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2682578" y="4180805"/>
            <a:ext cx="12981836"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Technologies utiliser</a:t>
            </a:r>
          </a:p>
        </p:txBody>
      </p:sp>
      <p:sp>
        <p:nvSpPr>
          <p:cNvPr name="TextBox 6" id="6"/>
          <p:cNvSpPr txBox="true"/>
          <p:nvPr/>
        </p:nvSpPr>
        <p:spPr>
          <a:xfrm rot="0">
            <a:off x="5233829" y="6844998"/>
            <a:ext cx="7879335"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45752"/>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6394392" y="453163"/>
            <a:ext cx="13237922"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Technologies utiliser</a:t>
            </a:r>
          </a:p>
        </p:txBody>
      </p:sp>
      <p:grpSp>
        <p:nvGrpSpPr>
          <p:cNvPr name="Group 7" id="7"/>
          <p:cNvGrpSpPr/>
          <p:nvPr/>
        </p:nvGrpSpPr>
        <p:grpSpPr>
          <a:xfrm rot="0">
            <a:off x="10380796" y="5858906"/>
            <a:ext cx="6609557" cy="2217933"/>
            <a:chOff x="0" y="0"/>
            <a:chExt cx="8812743" cy="2957244"/>
          </a:xfrm>
        </p:grpSpPr>
        <p:sp>
          <p:nvSpPr>
            <p:cNvPr name="TextBox 8" id="8"/>
            <p:cNvSpPr txBox="true"/>
            <p:nvPr/>
          </p:nvSpPr>
          <p:spPr>
            <a:xfrm rot="0">
              <a:off x="0" y="1136910"/>
              <a:ext cx="8812743" cy="1820333"/>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Axios (Communication API), Git (Versionnage).</a:t>
              </a:r>
            </a:p>
          </p:txBody>
        </p:sp>
        <p:sp>
          <p:nvSpPr>
            <p:cNvPr name="TextBox 9" id="9"/>
            <p:cNvSpPr txBox="true"/>
            <p:nvPr/>
          </p:nvSpPr>
          <p:spPr>
            <a:xfrm rot="0">
              <a:off x="0" y="-95250"/>
              <a:ext cx="4966025" cy="1085002"/>
            </a:xfrm>
            <a:prstGeom prst="rect">
              <a:avLst/>
            </a:prstGeom>
          </p:spPr>
          <p:txBody>
            <a:bodyPr anchor="t" rtlCol="false" tIns="0" lIns="0" bIns="0" rIns="0">
              <a:spAutoFit/>
            </a:bodyPr>
            <a:lstStyle/>
            <a:p>
              <a:pPr algn="l">
                <a:lnSpc>
                  <a:spcPts val="6860"/>
                </a:lnSpc>
              </a:pPr>
              <a:r>
                <a:rPr lang="en-US" sz="4900">
                  <a:solidFill>
                    <a:srgbClr val="FCFCE4"/>
                  </a:solidFill>
                  <a:latin typeface="Harmattan"/>
                  <a:ea typeface="Harmattan"/>
                  <a:cs typeface="Harmattan"/>
                  <a:sym typeface="Harmattan"/>
                </a:rPr>
                <a:t>Outils :</a:t>
              </a:r>
            </a:p>
          </p:txBody>
        </p:sp>
      </p:grpSp>
      <p:grpSp>
        <p:nvGrpSpPr>
          <p:cNvPr name="Group 10" id="10"/>
          <p:cNvGrpSpPr/>
          <p:nvPr/>
        </p:nvGrpSpPr>
        <p:grpSpPr>
          <a:xfrm rot="0">
            <a:off x="1929050" y="3145562"/>
            <a:ext cx="6609557" cy="2050414"/>
            <a:chOff x="0" y="0"/>
            <a:chExt cx="8812743" cy="2733886"/>
          </a:xfrm>
        </p:grpSpPr>
        <p:sp>
          <p:nvSpPr>
            <p:cNvPr name="TextBox 11" id="11"/>
            <p:cNvSpPr txBox="true"/>
            <p:nvPr/>
          </p:nvSpPr>
          <p:spPr>
            <a:xfrm rot="0">
              <a:off x="0" y="-95250"/>
              <a:ext cx="4966025" cy="1085002"/>
            </a:xfrm>
            <a:prstGeom prst="rect">
              <a:avLst/>
            </a:prstGeom>
          </p:spPr>
          <p:txBody>
            <a:bodyPr anchor="t" rtlCol="false" tIns="0" lIns="0" bIns="0" rIns="0">
              <a:spAutoFit/>
            </a:bodyPr>
            <a:lstStyle/>
            <a:p>
              <a:pPr algn="l">
                <a:lnSpc>
                  <a:spcPts val="6860"/>
                </a:lnSpc>
              </a:pPr>
              <a:r>
                <a:rPr lang="en-US" sz="4900">
                  <a:solidFill>
                    <a:srgbClr val="FCFCE4"/>
                  </a:solidFill>
                  <a:latin typeface="Harmattan"/>
                  <a:ea typeface="Harmattan"/>
                  <a:cs typeface="Harmattan"/>
                  <a:sym typeface="Harmattan"/>
                </a:rPr>
                <a:t>Frontend :</a:t>
              </a:r>
            </a:p>
          </p:txBody>
        </p:sp>
        <p:sp>
          <p:nvSpPr>
            <p:cNvPr name="TextBox 12" id="12"/>
            <p:cNvSpPr txBox="true"/>
            <p:nvPr/>
          </p:nvSpPr>
          <p:spPr>
            <a:xfrm rot="0">
              <a:off x="0" y="913552"/>
              <a:ext cx="8812743" cy="1820333"/>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React.js (Interface utilisateur dynamique).</a:t>
              </a:r>
            </a:p>
          </p:txBody>
        </p:sp>
      </p:grpSp>
      <p:grpSp>
        <p:nvGrpSpPr>
          <p:cNvPr name="Group 13" id="13"/>
          <p:cNvGrpSpPr/>
          <p:nvPr/>
        </p:nvGrpSpPr>
        <p:grpSpPr>
          <a:xfrm rot="0">
            <a:off x="1745299" y="6248416"/>
            <a:ext cx="6609557" cy="2050414"/>
            <a:chOff x="0" y="0"/>
            <a:chExt cx="8812743" cy="2733886"/>
          </a:xfrm>
        </p:grpSpPr>
        <p:sp>
          <p:nvSpPr>
            <p:cNvPr name="TextBox 14" id="14"/>
            <p:cNvSpPr txBox="true"/>
            <p:nvPr/>
          </p:nvSpPr>
          <p:spPr>
            <a:xfrm rot="0">
              <a:off x="0" y="-95250"/>
              <a:ext cx="4966025" cy="1085002"/>
            </a:xfrm>
            <a:prstGeom prst="rect">
              <a:avLst/>
            </a:prstGeom>
          </p:spPr>
          <p:txBody>
            <a:bodyPr anchor="t" rtlCol="false" tIns="0" lIns="0" bIns="0" rIns="0">
              <a:spAutoFit/>
            </a:bodyPr>
            <a:lstStyle/>
            <a:p>
              <a:pPr algn="l">
                <a:lnSpc>
                  <a:spcPts val="6860"/>
                </a:lnSpc>
              </a:pPr>
              <a:r>
                <a:rPr lang="en-US" sz="4900">
                  <a:solidFill>
                    <a:srgbClr val="FCFCE4"/>
                  </a:solidFill>
                  <a:latin typeface="Harmattan"/>
                  <a:ea typeface="Harmattan"/>
                  <a:cs typeface="Harmattan"/>
                  <a:sym typeface="Harmattan"/>
                </a:rPr>
                <a:t>Backend  :</a:t>
              </a:r>
            </a:p>
          </p:txBody>
        </p:sp>
        <p:sp>
          <p:nvSpPr>
            <p:cNvPr name="TextBox 15" id="15"/>
            <p:cNvSpPr txBox="true"/>
            <p:nvPr/>
          </p:nvSpPr>
          <p:spPr>
            <a:xfrm rot="0">
              <a:off x="0" y="913552"/>
              <a:ext cx="8812743" cy="1820333"/>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Laravel (Sécurité et robustesse de l'API).</a:t>
              </a:r>
            </a:p>
          </p:txBody>
        </p:sp>
      </p:grpSp>
      <p:grpSp>
        <p:nvGrpSpPr>
          <p:cNvPr name="Group 16" id="16"/>
          <p:cNvGrpSpPr/>
          <p:nvPr/>
        </p:nvGrpSpPr>
        <p:grpSpPr>
          <a:xfrm rot="0">
            <a:off x="10649743" y="3438173"/>
            <a:ext cx="6609557" cy="1345564"/>
            <a:chOff x="0" y="0"/>
            <a:chExt cx="8812743" cy="1794086"/>
          </a:xfrm>
        </p:grpSpPr>
        <p:sp>
          <p:nvSpPr>
            <p:cNvPr name="TextBox 17" id="17"/>
            <p:cNvSpPr txBox="true"/>
            <p:nvPr/>
          </p:nvSpPr>
          <p:spPr>
            <a:xfrm rot="0">
              <a:off x="0" y="-95250"/>
              <a:ext cx="6206989" cy="1085002"/>
            </a:xfrm>
            <a:prstGeom prst="rect">
              <a:avLst/>
            </a:prstGeom>
          </p:spPr>
          <p:txBody>
            <a:bodyPr anchor="t" rtlCol="false" tIns="0" lIns="0" bIns="0" rIns="0">
              <a:spAutoFit/>
            </a:bodyPr>
            <a:lstStyle/>
            <a:p>
              <a:pPr algn="l">
                <a:lnSpc>
                  <a:spcPts val="6860"/>
                </a:lnSpc>
              </a:pPr>
              <a:r>
                <a:rPr lang="en-US" sz="4900">
                  <a:solidFill>
                    <a:srgbClr val="FCFCE4"/>
                  </a:solidFill>
                  <a:latin typeface="Harmattan"/>
                  <a:ea typeface="Harmattan"/>
                  <a:cs typeface="Harmattan"/>
                  <a:sym typeface="Harmattan"/>
                </a:rPr>
                <a:t>Base de données :</a:t>
              </a:r>
            </a:p>
          </p:txBody>
        </p:sp>
        <p:sp>
          <p:nvSpPr>
            <p:cNvPr name="TextBox 18" id="18"/>
            <p:cNvSpPr txBox="true"/>
            <p:nvPr/>
          </p:nvSpPr>
          <p:spPr>
            <a:xfrm rot="0">
              <a:off x="0" y="913552"/>
              <a:ext cx="8812743" cy="880533"/>
            </a:xfrm>
            <a:prstGeom prst="rect">
              <a:avLst/>
            </a:prstGeom>
          </p:spPr>
          <p:txBody>
            <a:bodyPr anchor="t" rtlCol="false" tIns="0" lIns="0" bIns="0" rIns="0">
              <a:spAutoFit/>
            </a:bodyPr>
            <a:lstStyle/>
            <a:p>
              <a:pPr algn="just">
                <a:lnSpc>
                  <a:spcPts val="5599"/>
                </a:lnSpc>
              </a:pPr>
              <a:r>
                <a:rPr lang="en-US" sz="3999">
                  <a:solidFill>
                    <a:srgbClr val="FCFCE4"/>
                  </a:solidFill>
                  <a:latin typeface="Harmattan"/>
                  <a:ea typeface="Harmattan"/>
                  <a:cs typeface="Harmattan"/>
                  <a:sym typeface="Harmattan"/>
                </a:rPr>
                <a:t>MySQL</a:t>
              </a:r>
            </a:p>
          </p:txBody>
        </p:sp>
      </p:grpSp>
      <p:sp>
        <p:nvSpPr>
          <p:cNvPr name="AutoShape 19" id="19"/>
          <p:cNvSpPr/>
          <p:nvPr/>
        </p:nvSpPr>
        <p:spPr>
          <a:xfrm>
            <a:off x="1803958" y="5583861"/>
            <a:ext cx="6492240" cy="0"/>
          </a:xfrm>
          <a:prstGeom prst="line">
            <a:avLst/>
          </a:prstGeom>
          <a:ln cap="flat" w="38100">
            <a:solidFill>
              <a:srgbClr val="F9ECC9"/>
            </a:solidFill>
            <a:prstDash val="solid"/>
            <a:headEnd type="none" len="sm" w="sm"/>
            <a:tailEnd type="none" len="sm" w="sm"/>
          </a:ln>
        </p:spPr>
      </p:sp>
      <p:sp>
        <p:nvSpPr>
          <p:cNvPr name="AutoShape 20" id="20"/>
          <p:cNvSpPr/>
          <p:nvPr/>
        </p:nvSpPr>
        <p:spPr>
          <a:xfrm>
            <a:off x="10242029" y="5564811"/>
            <a:ext cx="6492240" cy="0"/>
          </a:xfrm>
          <a:prstGeom prst="line">
            <a:avLst/>
          </a:prstGeom>
          <a:ln cap="flat" w="38100">
            <a:solidFill>
              <a:srgbClr val="F9ECC9"/>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595503" y="4180805"/>
            <a:ext cx="16663797"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Demanstration de la realisation</a:t>
            </a:r>
          </a:p>
        </p:txBody>
      </p:sp>
      <p:sp>
        <p:nvSpPr>
          <p:cNvPr name="TextBox 6" id="6"/>
          <p:cNvSpPr txBox="true"/>
          <p:nvPr/>
        </p:nvSpPr>
        <p:spPr>
          <a:xfrm rot="0">
            <a:off x="5233829" y="6844998"/>
            <a:ext cx="7879335"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45752"/>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7558584" y="2172248"/>
            <a:ext cx="9976106" cy="4776061"/>
          </a:xfrm>
          <a:custGeom>
            <a:avLst/>
            <a:gdLst/>
            <a:ahLst/>
            <a:cxnLst/>
            <a:rect r="r" b="b" t="t" l="l"/>
            <a:pathLst>
              <a:path h="4776061" w="9976106">
                <a:moveTo>
                  <a:pt x="0" y="0"/>
                </a:moveTo>
                <a:lnTo>
                  <a:pt x="9976107" y="0"/>
                </a:lnTo>
                <a:lnTo>
                  <a:pt x="9976107" y="4776061"/>
                </a:lnTo>
                <a:lnTo>
                  <a:pt x="0" y="4776061"/>
                </a:lnTo>
                <a:lnTo>
                  <a:pt x="0" y="0"/>
                </a:lnTo>
                <a:close/>
              </a:path>
            </a:pathLst>
          </a:custGeom>
          <a:blipFill>
            <a:blip r:embed="rId8"/>
            <a:stretch>
              <a:fillRect l="0" t="0" r="0" b="0"/>
            </a:stretch>
          </a:blipFill>
        </p:spPr>
      </p:sp>
      <p:sp>
        <p:nvSpPr>
          <p:cNvPr name="TextBox 7" id="7"/>
          <p:cNvSpPr txBox="true"/>
          <p:nvPr/>
        </p:nvSpPr>
        <p:spPr>
          <a:xfrm rot="0">
            <a:off x="8829221" y="621712"/>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Page d'Accueil</a:t>
            </a:r>
          </a:p>
        </p:txBody>
      </p:sp>
      <p:sp>
        <p:nvSpPr>
          <p:cNvPr name="TextBox 8" id="8"/>
          <p:cNvSpPr txBox="true"/>
          <p:nvPr/>
        </p:nvSpPr>
        <p:spPr>
          <a:xfrm rot="0">
            <a:off x="532997" y="2949575"/>
            <a:ext cx="6750197" cy="6995160"/>
          </a:xfrm>
          <a:prstGeom prst="rect">
            <a:avLst/>
          </a:prstGeom>
        </p:spPr>
        <p:txBody>
          <a:bodyPr anchor="t" rtlCol="false" tIns="0" lIns="0" bIns="0" rIns="0">
            <a:spAutoFit/>
          </a:bodyPr>
          <a:lstStyle/>
          <a:p>
            <a:pPr algn="ctr">
              <a:lnSpc>
                <a:spcPts val="5040"/>
              </a:lnSpc>
            </a:pPr>
            <a:r>
              <a:rPr lang="en-US" sz="3600">
                <a:solidFill>
                  <a:srgbClr val="FCFCE4"/>
                </a:solidFill>
                <a:latin typeface="Harmattan"/>
                <a:ea typeface="Harmattan"/>
                <a:cs typeface="Harmattan"/>
                <a:sym typeface="Harmattan"/>
              </a:rPr>
              <a:t>Cette interface constitue la vitrine digitale de Pharmacie Rhamna, conçue pour rassurer l'utilisateur dès son arrivée Elle met en avant l'identité visuelle du projet et présente une proposition de valeur claire axée sur la sécurité, la rapidité de livraison et la diversité du catalogue. L'objectif est de convertir le visiteur en client grâce à un parcours fluide et des services modernes comme la gestion des ordonnances en ligne.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7698499" y="1707602"/>
            <a:ext cx="9859913" cy="4806707"/>
          </a:xfrm>
          <a:custGeom>
            <a:avLst/>
            <a:gdLst/>
            <a:ahLst/>
            <a:cxnLst/>
            <a:rect r="r" b="b" t="t" l="l"/>
            <a:pathLst>
              <a:path h="4806707" w="9859913">
                <a:moveTo>
                  <a:pt x="0" y="0"/>
                </a:moveTo>
                <a:lnTo>
                  <a:pt x="9859913" y="0"/>
                </a:lnTo>
                <a:lnTo>
                  <a:pt x="9859913" y="4806707"/>
                </a:lnTo>
                <a:lnTo>
                  <a:pt x="0" y="4806707"/>
                </a:lnTo>
                <a:lnTo>
                  <a:pt x="0" y="0"/>
                </a:lnTo>
                <a:close/>
              </a:path>
            </a:pathLst>
          </a:custGeom>
          <a:blipFill>
            <a:blip r:embed="rId8"/>
            <a:stretch>
              <a:fillRect l="0" t="0" r="0" b="0"/>
            </a:stretch>
          </a:blipFill>
        </p:spPr>
      </p:sp>
      <p:sp>
        <p:nvSpPr>
          <p:cNvPr name="TextBox 7" id="7"/>
          <p:cNvSpPr txBox="true"/>
          <p:nvPr/>
        </p:nvSpPr>
        <p:spPr>
          <a:xfrm rot="0">
            <a:off x="8571002" y="444185"/>
            <a:ext cx="8688298" cy="1045205"/>
          </a:xfrm>
          <a:prstGeom prst="rect">
            <a:avLst/>
          </a:prstGeom>
        </p:spPr>
        <p:txBody>
          <a:bodyPr anchor="t" rtlCol="false" tIns="0" lIns="0" bIns="0" rIns="0">
            <a:spAutoFit/>
          </a:bodyPr>
          <a:lstStyle/>
          <a:p>
            <a:pPr algn="ctr">
              <a:lnSpc>
                <a:spcPts val="8540"/>
              </a:lnSpc>
            </a:pPr>
            <a:r>
              <a:rPr lang="en-US" sz="6100">
                <a:solidFill>
                  <a:srgbClr val="FCFCE4"/>
                </a:solidFill>
                <a:latin typeface="Maragsa"/>
                <a:ea typeface="Maragsa"/>
                <a:cs typeface="Maragsa"/>
                <a:sym typeface="Maragsa"/>
              </a:rPr>
              <a:t>Page d'Inscription (Sign Up)</a:t>
            </a:r>
          </a:p>
        </p:txBody>
      </p:sp>
      <p:sp>
        <p:nvSpPr>
          <p:cNvPr name="TextBox 8" id="8"/>
          <p:cNvSpPr txBox="true"/>
          <p:nvPr/>
        </p:nvSpPr>
        <p:spPr>
          <a:xfrm rot="0">
            <a:off x="725770" y="4615503"/>
            <a:ext cx="6750197" cy="5371465"/>
          </a:xfrm>
          <a:prstGeom prst="rect">
            <a:avLst/>
          </a:prstGeom>
        </p:spPr>
        <p:txBody>
          <a:bodyPr anchor="t" rtlCol="false" tIns="0" lIns="0" bIns="0" rIns="0">
            <a:spAutoFit/>
          </a:bodyPr>
          <a:lstStyle/>
          <a:p>
            <a:pPr algn="ctr">
              <a:lnSpc>
                <a:spcPts val="4760"/>
              </a:lnSpc>
            </a:pPr>
            <a:r>
              <a:rPr lang="en-US" sz="3400">
                <a:solidFill>
                  <a:srgbClr val="FCFCE4"/>
                </a:solidFill>
                <a:latin typeface="Harmattan"/>
                <a:ea typeface="Harmattan"/>
                <a:cs typeface="Harmattan"/>
                <a:sym typeface="Harmattan"/>
              </a:rPr>
              <a:t>La page de création de compte facilite l'adhésion des nouveaux clients grâce à un formulaire complet mais simple. Elle permet de collecter les informations essentielles telles que le nom complet, l'email et le numéro de téléphone. Cette interface souligne également les avantages de rejoindre la plateforme, comme la possibilité de commander facilement par WhatsApp.</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7507483" y="1707602"/>
            <a:ext cx="10013513" cy="4856554"/>
          </a:xfrm>
          <a:custGeom>
            <a:avLst/>
            <a:gdLst/>
            <a:ahLst/>
            <a:cxnLst/>
            <a:rect r="r" b="b" t="t" l="l"/>
            <a:pathLst>
              <a:path h="4856554" w="10013513">
                <a:moveTo>
                  <a:pt x="0" y="0"/>
                </a:moveTo>
                <a:lnTo>
                  <a:pt x="10013513" y="0"/>
                </a:lnTo>
                <a:lnTo>
                  <a:pt x="10013513" y="4856554"/>
                </a:lnTo>
                <a:lnTo>
                  <a:pt x="0" y="4856554"/>
                </a:lnTo>
                <a:lnTo>
                  <a:pt x="0" y="0"/>
                </a:lnTo>
                <a:close/>
              </a:path>
            </a:pathLst>
          </a:custGeom>
          <a:blipFill>
            <a:blip r:embed="rId8"/>
            <a:stretch>
              <a:fillRect l="0" t="0" r="0" b="0"/>
            </a:stretch>
          </a:blipFill>
        </p:spPr>
      </p:sp>
      <p:sp>
        <p:nvSpPr>
          <p:cNvPr name="TextBox 7" id="7"/>
          <p:cNvSpPr txBox="true"/>
          <p:nvPr/>
        </p:nvSpPr>
        <p:spPr>
          <a:xfrm rot="0">
            <a:off x="9001895" y="444185"/>
            <a:ext cx="8688298" cy="1045205"/>
          </a:xfrm>
          <a:prstGeom prst="rect">
            <a:avLst/>
          </a:prstGeom>
        </p:spPr>
        <p:txBody>
          <a:bodyPr anchor="t" rtlCol="false" tIns="0" lIns="0" bIns="0" rIns="0">
            <a:spAutoFit/>
          </a:bodyPr>
          <a:lstStyle/>
          <a:p>
            <a:pPr algn="ctr">
              <a:lnSpc>
                <a:spcPts val="8540"/>
              </a:lnSpc>
            </a:pPr>
            <a:r>
              <a:rPr lang="en-US" sz="6100">
                <a:solidFill>
                  <a:srgbClr val="FCFCE4"/>
                </a:solidFill>
                <a:latin typeface="Maragsa"/>
                <a:ea typeface="Maragsa"/>
                <a:cs typeface="Maragsa"/>
                <a:sym typeface="Maragsa"/>
              </a:rPr>
              <a:t>Page de Connexion (Login)</a:t>
            </a:r>
          </a:p>
        </p:txBody>
      </p:sp>
      <p:sp>
        <p:nvSpPr>
          <p:cNvPr name="TextBox 8" id="8"/>
          <p:cNvSpPr txBox="true"/>
          <p:nvPr/>
        </p:nvSpPr>
        <p:spPr>
          <a:xfrm rot="0">
            <a:off x="588075" y="4069204"/>
            <a:ext cx="6750197" cy="5887720"/>
          </a:xfrm>
          <a:prstGeom prst="rect">
            <a:avLst/>
          </a:prstGeom>
        </p:spPr>
        <p:txBody>
          <a:bodyPr anchor="t" rtlCol="false" tIns="0" lIns="0" bIns="0" rIns="0">
            <a:spAutoFit/>
          </a:bodyPr>
          <a:lstStyle/>
          <a:p>
            <a:pPr algn="ctr">
              <a:lnSpc>
                <a:spcPts val="5180"/>
              </a:lnSpc>
            </a:pPr>
            <a:r>
              <a:rPr lang="en-US" sz="3700">
                <a:solidFill>
                  <a:srgbClr val="FCFCE4"/>
                </a:solidFill>
                <a:latin typeface="Harmattan"/>
                <a:ea typeface="Harmattan"/>
                <a:cs typeface="Harmattan"/>
                <a:sym typeface="Harmattan"/>
              </a:rPr>
              <a:t>L'espace de connexion assure un accès sécurisé aux comptes utilisateurs et administrateurs. L'interface est épurée, demandant simplement l'adresse email et le mot de passe, tout en offrant la possibilité de s'inscrire pour les nouveaux membres. Cette étape est cruciale pour protéger les fonctionnalités de gestion sensibles de la plateforme.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7498650" y="2095153"/>
            <a:ext cx="10113335" cy="4930251"/>
          </a:xfrm>
          <a:custGeom>
            <a:avLst/>
            <a:gdLst/>
            <a:ahLst/>
            <a:cxnLst/>
            <a:rect r="r" b="b" t="t" l="l"/>
            <a:pathLst>
              <a:path h="4930251" w="10113335">
                <a:moveTo>
                  <a:pt x="0" y="0"/>
                </a:moveTo>
                <a:lnTo>
                  <a:pt x="10113335" y="0"/>
                </a:lnTo>
                <a:lnTo>
                  <a:pt x="10113335" y="4930251"/>
                </a:lnTo>
                <a:lnTo>
                  <a:pt x="0" y="4930251"/>
                </a:lnTo>
                <a:lnTo>
                  <a:pt x="0" y="0"/>
                </a:lnTo>
                <a:close/>
              </a:path>
            </a:pathLst>
          </a:custGeom>
          <a:blipFill>
            <a:blip r:embed="rId8"/>
            <a:stretch>
              <a:fillRect l="0" t="0" r="0" b="0"/>
            </a:stretch>
          </a:blipFill>
        </p:spPr>
      </p:sp>
      <p:sp>
        <p:nvSpPr>
          <p:cNvPr name="TextBox 7" id="7"/>
          <p:cNvSpPr txBox="true"/>
          <p:nvPr/>
        </p:nvSpPr>
        <p:spPr>
          <a:xfrm rot="0">
            <a:off x="5782396" y="520791"/>
            <a:ext cx="11829589" cy="1186811"/>
          </a:xfrm>
          <a:prstGeom prst="rect">
            <a:avLst/>
          </a:prstGeom>
        </p:spPr>
        <p:txBody>
          <a:bodyPr anchor="t" rtlCol="false" tIns="0" lIns="0" bIns="0" rIns="0">
            <a:spAutoFit/>
          </a:bodyPr>
          <a:lstStyle/>
          <a:p>
            <a:pPr algn="ctr">
              <a:lnSpc>
                <a:spcPts val="9660"/>
              </a:lnSpc>
            </a:pPr>
            <a:r>
              <a:rPr lang="en-US" sz="6900">
                <a:solidFill>
                  <a:srgbClr val="FCFCE4"/>
                </a:solidFill>
                <a:latin typeface="Maragsa"/>
                <a:ea typeface="Maragsa"/>
                <a:cs typeface="Maragsa"/>
                <a:sym typeface="Maragsa"/>
              </a:rPr>
              <a:t>Interface Boutique et Catalogue</a:t>
            </a:r>
          </a:p>
        </p:txBody>
      </p:sp>
      <p:sp>
        <p:nvSpPr>
          <p:cNvPr name="TextBox 8" id="8"/>
          <p:cNvSpPr txBox="true"/>
          <p:nvPr/>
        </p:nvSpPr>
        <p:spPr>
          <a:xfrm rot="0">
            <a:off x="532997" y="3612838"/>
            <a:ext cx="6750197" cy="6374130"/>
          </a:xfrm>
          <a:prstGeom prst="rect">
            <a:avLst/>
          </a:prstGeom>
        </p:spPr>
        <p:txBody>
          <a:bodyPr anchor="t" rtlCol="false" tIns="0" lIns="0" bIns="0" rIns="0">
            <a:spAutoFit/>
          </a:bodyPr>
          <a:lstStyle/>
          <a:p>
            <a:pPr algn="ctr">
              <a:lnSpc>
                <a:spcPts val="4620"/>
              </a:lnSpc>
            </a:pPr>
            <a:r>
              <a:rPr lang="en-US" sz="3300">
                <a:solidFill>
                  <a:srgbClr val="FCFCE4"/>
                </a:solidFill>
                <a:latin typeface="Harmattan"/>
                <a:ea typeface="Harmattan"/>
                <a:cs typeface="Harmattan"/>
                <a:sym typeface="Harmattan"/>
              </a:rPr>
              <a:t>Cette page constitue le cœur commercial de la plateforme Pharmacie Rhamna. Elle présente un catalogue interactif où les clients peuvent parcourir les médicaments, vérifier leur disponibilité en temps réel via des badges (En stock ou Épuisé) et consulter les prix. L'interface intègre également une barre de recherche rapide et un système de panier dynamique, permettant de préparer une commande et de la finaliser via WhatsApp pour un service de proximité optimal.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8041092" y="1836535"/>
            <a:ext cx="9570894" cy="4677774"/>
          </a:xfrm>
          <a:custGeom>
            <a:avLst/>
            <a:gdLst/>
            <a:ahLst/>
            <a:cxnLst/>
            <a:rect r="r" b="b" t="t" l="l"/>
            <a:pathLst>
              <a:path h="4677774" w="9570894">
                <a:moveTo>
                  <a:pt x="0" y="0"/>
                </a:moveTo>
                <a:lnTo>
                  <a:pt x="9570893" y="0"/>
                </a:lnTo>
                <a:lnTo>
                  <a:pt x="9570893" y="4677774"/>
                </a:lnTo>
                <a:lnTo>
                  <a:pt x="0" y="4677774"/>
                </a:lnTo>
                <a:lnTo>
                  <a:pt x="0" y="0"/>
                </a:lnTo>
                <a:close/>
              </a:path>
            </a:pathLst>
          </a:custGeom>
          <a:blipFill>
            <a:blip r:embed="rId8"/>
            <a:stretch>
              <a:fillRect l="0" t="0" r="0" b="0"/>
            </a:stretch>
          </a:blipFill>
        </p:spPr>
      </p:sp>
      <p:sp>
        <p:nvSpPr>
          <p:cNvPr name="TextBox 7" id="7"/>
          <p:cNvSpPr txBox="true"/>
          <p:nvPr/>
        </p:nvSpPr>
        <p:spPr>
          <a:xfrm rot="0">
            <a:off x="7283194" y="534153"/>
            <a:ext cx="11829589" cy="1302382"/>
          </a:xfrm>
          <a:prstGeom prst="rect">
            <a:avLst/>
          </a:prstGeom>
        </p:spPr>
        <p:txBody>
          <a:bodyPr anchor="t" rtlCol="false" tIns="0" lIns="0" bIns="0" rIns="0">
            <a:spAutoFit/>
          </a:bodyPr>
          <a:lstStyle/>
          <a:p>
            <a:pPr algn="ctr">
              <a:lnSpc>
                <a:spcPts val="10640"/>
              </a:lnSpc>
            </a:pPr>
            <a:r>
              <a:rPr lang="en-US" sz="7600">
                <a:solidFill>
                  <a:srgbClr val="FCFCE4"/>
                </a:solidFill>
                <a:latin typeface="Maragsa"/>
                <a:ea typeface="Maragsa"/>
                <a:cs typeface="Maragsa"/>
                <a:sym typeface="Maragsa"/>
              </a:rPr>
              <a:t>Fiche Produit Détaillée</a:t>
            </a:r>
          </a:p>
        </p:txBody>
      </p:sp>
      <p:sp>
        <p:nvSpPr>
          <p:cNvPr name="TextBox 8" id="8"/>
          <p:cNvSpPr txBox="true"/>
          <p:nvPr/>
        </p:nvSpPr>
        <p:spPr>
          <a:xfrm rot="0">
            <a:off x="532997" y="3612838"/>
            <a:ext cx="6750197" cy="6356985"/>
          </a:xfrm>
          <a:prstGeom prst="rect">
            <a:avLst/>
          </a:prstGeom>
        </p:spPr>
        <p:txBody>
          <a:bodyPr anchor="t" rtlCol="false" tIns="0" lIns="0" bIns="0" rIns="0">
            <a:spAutoFit/>
          </a:bodyPr>
          <a:lstStyle/>
          <a:p>
            <a:pPr algn="ctr">
              <a:lnSpc>
                <a:spcPts val="5040"/>
              </a:lnSpc>
            </a:pPr>
            <a:r>
              <a:rPr lang="en-US" sz="3600">
                <a:solidFill>
                  <a:srgbClr val="FCFCE4"/>
                </a:solidFill>
                <a:latin typeface="Harmattan"/>
                <a:ea typeface="Harmattan"/>
                <a:cs typeface="Harmattan"/>
                <a:sym typeface="Harmattan"/>
              </a:rPr>
              <a:t>Cette interface s'affiche lors de la sélection d'un médicament pour offrir une vue complète avant l'achat. Elle regroupe les informations essentielles : le prix, le dosage précis, la forme galénique et l'état réel du stock. Une section "Notice &amp; Description" est également intégrée pour conseiller l'utilisateur sur l'usage du produit, garantissant ainsi un service client informatif et sécurisé.</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6" id="6"/>
          <p:cNvSpPr/>
          <p:nvPr/>
        </p:nvSpPr>
        <p:spPr>
          <a:xfrm flipH="false" flipV="false" rot="0">
            <a:off x="7604453" y="1716289"/>
            <a:ext cx="9944083" cy="4798020"/>
          </a:xfrm>
          <a:custGeom>
            <a:avLst/>
            <a:gdLst/>
            <a:ahLst/>
            <a:cxnLst/>
            <a:rect r="r" b="b" t="t" l="l"/>
            <a:pathLst>
              <a:path h="4798020" w="9944083">
                <a:moveTo>
                  <a:pt x="0" y="0"/>
                </a:moveTo>
                <a:lnTo>
                  <a:pt x="9944082" y="0"/>
                </a:lnTo>
                <a:lnTo>
                  <a:pt x="9944082" y="4798020"/>
                </a:lnTo>
                <a:lnTo>
                  <a:pt x="0" y="4798020"/>
                </a:lnTo>
                <a:lnTo>
                  <a:pt x="0" y="0"/>
                </a:lnTo>
                <a:close/>
              </a:path>
            </a:pathLst>
          </a:custGeom>
          <a:blipFill>
            <a:blip r:embed="rId8"/>
            <a:stretch>
              <a:fillRect l="0" t="0" r="0" b="0"/>
            </a:stretch>
          </a:blipFill>
        </p:spPr>
      </p:sp>
      <p:sp>
        <p:nvSpPr>
          <p:cNvPr name="TextBox 7" id="7"/>
          <p:cNvSpPr txBox="true"/>
          <p:nvPr/>
        </p:nvSpPr>
        <p:spPr>
          <a:xfrm rot="0">
            <a:off x="6617978" y="444185"/>
            <a:ext cx="11214320" cy="1045205"/>
          </a:xfrm>
          <a:prstGeom prst="rect">
            <a:avLst/>
          </a:prstGeom>
        </p:spPr>
        <p:txBody>
          <a:bodyPr anchor="t" rtlCol="false" tIns="0" lIns="0" bIns="0" rIns="0">
            <a:spAutoFit/>
          </a:bodyPr>
          <a:lstStyle/>
          <a:p>
            <a:pPr algn="ctr">
              <a:lnSpc>
                <a:spcPts val="8540"/>
              </a:lnSpc>
            </a:pPr>
            <a:r>
              <a:rPr lang="en-US" sz="6100">
                <a:solidFill>
                  <a:srgbClr val="FCFCE4"/>
                </a:solidFill>
                <a:latin typeface="Maragsa"/>
                <a:ea typeface="Maragsa"/>
                <a:cs typeface="Maragsa"/>
                <a:sym typeface="Maragsa"/>
              </a:rPr>
              <a:t>Espace Gestion du Stock (Admin)</a:t>
            </a:r>
          </a:p>
        </p:txBody>
      </p:sp>
      <p:sp>
        <p:nvSpPr>
          <p:cNvPr name="TextBox 8" id="8"/>
          <p:cNvSpPr txBox="true"/>
          <p:nvPr/>
        </p:nvSpPr>
        <p:spPr>
          <a:xfrm rot="0">
            <a:off x="532997" y="3612838"/>
            <a:ext cx="6750197" cy="6374130"/>
          </a:xfrm>
          <a:prstGeom prst="rect">
            <a:avLst/>
          </a:prstGeom>
        </p:spPr>
        <p:txBody>
          <a:bodyPr anchor="t" rtlCol="false" tIns="0" lIns="0" bIns="0" rIns="0">
            <a:spAutoFit/>
          </a:bodyPr>
          <a:lstStyle/>
          <a:p>
            <a:pPr algn="ctr">
              <a:lnSpc>
                <a:spcPts val="4620"/>
              </a:lnSpc>
            </a:pPr>
            <a:r>
              <a:rPr lang="en-US" sz="3300">
                <a:solidFill>
                  <a:srgbClr val="FCFCE4"/>
                </a:solidFill>
                <a:latin typeface="Harmattan"/>
                <a:ea typeface="Harmattan"/>
                <a:cs typeface="Harmattan"/>
                <a:sym typeface="Harmattan"/>
              </a:rPr>
              <a:t>Le tableau de bord administrateur permet un pilotage complet de la pharmacie. Il affiche des statistiques en temps réel sur l'état global du catalogue, notamment le nombre de produits en stock et les ruptures. Cette interface centralise toutes les opérations de gestion (CRUD) : l'ajout rapide de nouveaux médicaments via un formulaire dédié, ainsi que la modification ou la suppression des références existantes directement depuis la liste interactive.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595503" y="4180805"/>
            <a:ext cx="16663797"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Bilan &amp; Difficultés</a:t>
            </a:r>
          </a:p>
        </p:txBody>
      </p:sp>
      <p:sp>
        <p:nvSpPr>
          <p:cNvPr name="TextBox 6" id="6"/>
          <p:cNvSpPr txBox="true"/>
          <p:nvPr/>
        </p:nvSpPr>
        <p:spPr>
          <a:xfrm rot="0">
            <a:off x="5233829" y="6844998"/>
            <a:ext cx="7879335"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45752"/>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3988645" y="566634"/>
            <a:ext cx="10026501"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 Bilan &amp; Difficultés</a:t>
            </a:r>
          </a:p>
        </p:txBody>
      </p:sp>
      <p:sp>
        <p:nvSpPr>
          <p:cNvPr name="TextBox 7" id="7"/>
          <p:cNvSpPr txBox="true"/>
          <p:nvPr/>
        </p:nvSpPr>
        <p:spPr>
          <a:xfrm rot="0">
            <a:off x="1352968" y="3812627"/>
            <a:ext cx="6609557" cy="5950584"/>
          </a:xfrm>
          <a:prstGeom prst="rect">
            <a:avLst/>
          </a:prstGeom>
        </p:spPr>
        <p:txBody>
          <a:bodyPr anchor="t" rtlCol="false" tIns="0" lIns="0" bIns="0" rIns="0">
            <a:spAutoFit/>
          </a:bodyPr>
          <a:lstStyle/>
          <a:p>
            <a:pPr algn="just">
              <a:lnSpc>
                <a:spcPts val="4340"/>
              </a:lnSpc>
            </a:pPr>
            <a:r>
              <a:rPr lang="en-US" sz="3100">
                <a:solidFill>
                  <a:srgbClr val="FCFCE4"/>
                </a:solidFill>
                <a:latin typeface="Harmattan"/>
                <a:ea typeface="Harmattan"/>
                <a:cs typeface="Harmattan"/>
                <a:sym typeface="Harmattan"/>
              </a:rPr>
              <a:t>Ce projet a été une opportunité majeure pour consolider mes compétences en développement Full-stack. J'ai maîtrisé l'architecture découplée en connectant React et Laravel via des APIs REST avec Axios, tout en concevant une base de données MySQL structurée pour la gestion des stocks. J'ai également intégré des services essentiels comme le serveur SMTP pour la sécurité des comptes et optimisé les performances de l'application grâce aux outils avancés de Laravel</a:t>
            </a:r>
          </a:p>
        </p:txBody>
      </p:sp>
      <p:sp>
        <p:nvSpPr>
          <p:cNvPr name="TextBox 8" id="8"/>
          <p:cNvSpPr txBox="true"/>
          <p:nvPr/>
        </p:nvSpPr>
        <p:spPr>
          <a:xfrm rot="0">
            <a:off x="1352968" y="2831552"/>
            <a:ext cx="6609557" cy="1038225"/>
          </a:xfrm>
          <a:prstGeom prst="rect">
            <a:avLst/>
          </a:prstGeom>
        </p:spPr>
        <p:txBody>
          <a:bodyPr anchor="t" rtlCol="false" tIns="0" lIns="0" bIns="0" rIns="0">
            <a:spAutoFit/>
          </a:bodyPr>
          <a:lstStyle/>
          <a:p>
            <a:pPr algn="l">
              <a:lnSpc>
                <a:spcPts val="8400"/>
              </a:lnSpc>
            </a:pPr>
            <a:r>
              <a:rPr lang="en-US" sz="6000">
                <a:solidFill>
                  <a:srgbClr val="FCFCE4"/>
                </a:solidFill>
                <a:latin typeface="Harmattan"/>
                <a:ea typeface="Harmattan"/>
                <a:cs typeface="Harmattan"/>
                <a:sym typeface="Harmattan"/>
              </a:rPr>
              <a:t>Bilan</a:t>
            </a:r>
          </a:p>
        </p:txBody>
      </p:sp>
      <p:sp>
        <p:nvSpPr>
          <p:cNvPr name="TextBox 9" id="9"/>
          <p:cNvSpPr txBox="true"/>
          <p:nvPr/>
        </p:nvSpPr>
        <p:spPr>
          <a:xfrm rot="0">
            <a:off x="9476908" y="2833371"/>
            <a:ext cx="6609557" cy="6424929"/>
          </a:xfrm>
          <a:prstGeom prst="rect">
            <a:avLst/>
          </a:prstGeom>
        </p:spPr>
        <p:txBody>
          <a:bodyPr anchor="t" rtlCol="false" tIns="0" lIns="0" bIns="0" rIns="0">
            <a:spAutoFit/>
          </a:bodyPr>
          <a:lstStyle/>
          <a:p>
            <a:pPr algn="just">
              <a:lnSpc>
                <a:spcPts val="3920"/>
              </a:lnSpc>
            </a:pPr>
            <a:r>
              <a:rPr lang="en-US" sz="2800">
                <a:solidFill>
                  <a:srgbClr val="FCFCE4"/>
                </a:solidFill>
                <a:latin typeface="Harmattan"/>
                <a:ea typeface="Harmattan"/>
                <a:cs typeface="Harmattan"/>
                <a:sym typeface="Harmattan"/>
              </a:rPr>
              <a:t>Le développement de ce projet a été jalonné de défis techniques majeurs, notamment la configuration sécurisée du service SMTP de Gmail, qui a nécessité une maîtrise des protocoles d'authentification de Google pour autoriser l'envoi d'emails via Laravel. J'ai également dû gérer les problématiques de persistance du cache système pour assurer la prise en compte des configurations en temps réel. Enfin, la modélisation complexe des relations en base de données et la résolution des erreurs de synchronisation CORS entre React et l'API ont été des étapes cruciales pour garantir l'intégrité et la fluidité de l'application</a:t>
            </a:r>
          </a:p>
        </p:txBody>
      </p:sp>
      <p:sp>
        <p:nvSpPr>
          <p:cNvPr name="TextBox 10" id="10"/>
          <p:cNvSpPr txBox="true"/>
          <p:nvPr/>
        </p:nvSpPr>
        <p:spPr>
          <a:xfrm rot="0">
            <a:off x="9476908" y="1917152"/>
            <a:ext cx="5506936" cy="1038225"/>
          </a:xfrm>
          <a:prstGeom prst="rect">
            <a:avLst/>
          </a:prstGeom>
        </p:spPr>
        <p:txBody>
          <a:bodyPr anchor="t" rtlCol="false" tIns="0" lIns="0" bIns="0" rIns="0">
            <a:spAutoFit/>
          </a:bodyPr>
          <a:lstStyle/>
          <a:p>
            <a:pPr algn="l">
              <a:lnSpc>
                <a:spcPts val="8400"/>
              </a:lnSpc>
            </a:pPr>
            <a:r>
              <a:rPr lang="en-US" sz="6000">
                <a:solidFill>
                  <a:srgbClr val="FCFCE4"/>
                </a:solidFill>
                <a:latin typeface="Harmattan"/>
                <a:ea typeface="Harmattan"/>
                <a:cs typeface="Harmattan"/>
                <a:sym typeface="Harmattan"/>
              </a:rPr>
              <a:t>Difficultés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595503" y="4180805"/>
            <a:ext cx="16663797" cy="1717676"/>
          </a:xfrm>
          <a:prstGeom prst="rect">
            <a:avLst/>
          </a:prstGeom>
        </p:spPr>
        <p:txBody>
          <a:bodyPr anchor="t" rtlCol="false" tIns="0" lIns="0" bIns="0" rIns="0">
            <a:spAutoFit/>
          </a:bodyPr>
          <a:lstStyle/>
          <a:p>
            <a:pPr algn="ctr">
              <a:lnSpc>
                <a:spcPts val="13999"/>
              </a:lnSpc>
            </a:pPr>
            <a:r>
              <a:rPr lang="en-US" sz="9999">
                <a:solidFill>
                  <a:srgbClr val="FCFCE4"/>
                </a:solidFill>
                <a:latin typeface="Maragsa"/>
                <a:ea typeface="Maragsa"/>
                <a:cs typeface="Maragsa"/>
                <a:sym typeface="Maragsa"/>
              </a:rPr>
              <a:t>Conclusion</a:t>
            </a:r>
          </a:p>
        </p:txBody>
      </p:sp>
      <p:sp>
        <p:nvSpPr>
          <p:cNvPr name="TextBox 6" id="6"/>
          <p:cNvSpPr txBox="true"/>
          <p:nvPr/>
        </p:nvSpPr>
        <p:spPr>
          <a:xfrm rot="0">
            <a:off x="5233829" y="6844998"/>
            <a:ext cx="7879335"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Freeform 7" id="7"/>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8" id="8"/>
          <p:cNvSpPr/>
          <p:nvPr/>
        </p:nvSpPr>
        <p:spPr>
          <a:xfrm flipH="false" flipV="false" rot="0">
            <a:off x="11763481" y="45752"/>
            <a:ext cx="6524519" cy="3042057"/>
          </a:xfrm>
          <a:custGeom>
            <a:avLst/>
            <a:gdLst/>
            <a:ahLst/>
            <a:cxnLst/>
            <a:rect r="r" b="b" t="t" l="l"/>
            <a:pathLst>
              <a:path h="3042057" w="6524519">
                <a:moveTo>
                  <a:pt x="0" y="0"/>
                </a:moveTo>
                <a:lnTo>
                  <a:pt x="6524519" y="0"/>
                </a:lnTo>
                <a:lnTo>
                  <a:pt x="6524519" y="3042057"/>
                </a:lnTo>
                <a:lnTo>
                  <a:pt x="0" y="3042057"/>
                </a:lnTo>
                <a:lnTo>
                  <a:pt x="0" y="0"/>
                </a:lnTo>
                <a:close/>
              </a:path>
            </a:pathLst>
          </a:custGeom>
          <a:blipFill>
            <a:blip r:embed="rId8"/>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Freeform 5" id="5"/>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6" id="6"/>
          <p:cNvSpPr txBox="true"/>
          <p:nvPr/>
        </p:nvSpPr>
        <p:spPr>
          <a:xfrm rot="0">
            <a:off x="5138987" y="1971126"/>
            <a:ext cx="8010026" cy="1377949"/>
          </a:xfrm>
          <a:prstGeom prst="rect">
            <a:avLst/>
          </a:prstGeom>
        </p:spPr>
        <p:txBody>
          <a:bodyPr anchor="t" rtlCol="false" tIns="0" lIns="0" bIns="0" rIns="0">
            <a:spAutoFit/>
          </a:bodyPr>
          <a:lstStyle/>
          <a:p>
            <a:pPr algn="ctr">
              <a:lnSpc>
                <a:spcPts val="11200"/>
              </a:lnSpc>
            </a:pPr>
            <a:r>
              <a:rPr lang="en-US" sz="8000">
                <a:solidFill>
                  <a:srgbClr val="FCFCE4"/>
                </a:solidFill>
                <a:latin typeface="Maragsa"/>
                <a:ea typeface="Maragsa"/>
                <a:cs typeface="Maragsa"/>
                <a:sym typeface="Maragsa"/>
              </a:rPr>
              <a:t>Conclusion</a:t>
            </a:r>
          </a:p>
        </p:txBody>
      </p:sp>
      <p:sp>
        <p:nvSpPr>
          <p:cNvPr name="TextBox 7" id="7"/>
          <p:cNvSpPr txBox="true"/>
          <p:nvPr/>
        </p:nvSpPr>
        <p:spPr>
          <a:xfrm rot="0">
            <a:off x="3083844" y="4110020"/>
            <a:ext cx="12120313" cy="4203700"/>
          </a:xfrm>
          <a:prstGeom prst="rect">
            <a:avLst/>
          </a:prstGeom>
        </p:spPr>
        <p:txBody>
          <a:bodyPr anchor="t" rtlCol="false" tIns="0" lIns="0" bIns="0" rIns="0">
            <a:spAutoFit/>
          </a:bodyPr>
          <a:lstStyle/>
          <a:p>
            <a:pPr algn="ctr">
              <a:lnSpc>
                <a:spcPts val="5599"/>
              </a:lnSpc>
            </a:pPr>
            <a:r>
              <a:rPr lang="en-US" sz="3999">
                <a:solidFill>
                  <a:srgbClr val="FCFCE4"/>
                </a:solidFill>
                <a:latin typeface="Harmattan"/>
                <a:ea typeface="Harmattan"/>
                <a:cs typeface="Harmattan"/>
                <a:sym typeface="Harmattan"/>
              </a:rPr>
              <a:t>Ce stage a été une expérience enrichissante qui m'a permis de maîtriser des technologies modernes comme React et Laravel. Au-delà du code, j'ai compris l'impact positif du digital sur la gestion de la santé en milieu rural. Ce projet constitue une base solide pouvant évoluer vers des fonctionnalités avancées, telles que le paiement en ligne ou la gestion automatisée des mutuelles.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E7153"/>
        </a:solidFill>
      </p:bgPr>
    </p:bg>
    <p:spTree>
      <p:nvGrpSpPr>
        <p:cNvPr id="1" name=""/>
        <p:cNvGrpSpPr/>
        <p:nvPr/>
      </p:nvGrpSpPr>
      <p:grpSpPr>
        <a:xfrm>
          <a:off x="0" y="0"/>
          <a:ext cx="0" cy="0"/>
          <a:chOff x="0" y="0"/>
          <a:chExt cx="0" cy="0"/>
        </a:xfrm>
      </p:grpSpPr>
      <p:sp>
        <p:nvSpPr>
          <p:cNvPr name="Freeform 2" id="2"/>
          <p:cNvSpPr/>
          <p:nvPr/>
        </p:nvSpPr>
        <p:spPr>
          <a:xfrm flipH="true" flipV="false" rot="0">
            <a:off x="10002868" y="6514309"/>
            <a:ext cx="9629446" cy="4622134"/>
          </a:xfrm>
          <a:custGeom>
            <a:avLst/>
            <a:gdLst/>
            <a:ahLst/>
            <a:cxnLst/>
            <a:rect r="r" b="b" t="t" l="l"/>
            <a:pathLst>
              <a:path h="4622134" w="9629446">
                <a:moveTo>
                  <a:pt x="9629446" y="0"/>
                </a:moveTo>
                <a:lnTo>
                  <a:pt x="0" y="0"/>
                </a:lnTo>
                <a:lnTo>
                  <a:pt x="0" y="4622134"/>
                </a:lnTo>
                <a:lnTo>
                  <a:pt x="9629446" y="4622134"/>
                </a:lnTo>
                <a:lnTo>
                  <a:pt x="96294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6776" y="-349798"/>
            <a:ext cx="5700605" cy="4114800"/>
          </a:xfrm>
          <a:custGeom>
            <a:avLst/>
            <a:gdLst/>
            <a:ahLst/>
            <a:cxnLst/>
            <a:rect r="r" b="b" t="t" l="l"/>
            <a:pathLst>
              <a:path h="4114800" w="5700605">
                <a:moveTo>
                  <a:pt x="5700605" y="4114800"/>
                </a:moveTo>
                <a:lnTo>
                  <a:pt x="0" y="4114800"/>
                </a:lnTo>
                <a:lnTo>
                  <a:pt x="0" y="0"/>
                </a:lnTo>
                <a:lnTo>
                  <a:pt x="5700605" y="0"/>
                </a:lnTo>
                <a:lnTo>
                  <a:pt x="57006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44402" y="2929475"/>
            <a:ext cx="5426689" cy="8688298"/>
          </a:xfrm>
          <a:custGeom>
            <a:avLst/>
            <a:gdLst/>
            <a:ahLst/>
            <a:cxnLst/>
            <a:rect r="r" b="b" t="t" l="l"/>
            <a:pathLst>
              <a:path h="8688298" w="5426689">
                <a:moveTo>
                  <a:pt x="0" y="0"/>
                </a:moveTo>
                <a:lnTo>
                  <a:pt x="5426689" y="0"/>
                </a:lnTo>
                <a:lnTo>
                  <a:pt x="5426689" y="8688297"/>
                </a:lnTo>
                <a:lnTo>
                  <a:pt x="0" y="8688297"/>
                </a:lnTo>
                <a:lnTo>
                  <a:pt x="0" y="0"/>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
        <p:nvSpPr>
          <p:cNvPr name="TextBox 5" id="5"/>
          <p:cNvSpPr txBox="true"/>
          <p:nvPr/>
        </p:nvSpPr>
        <p:spPr>
          <a:xfrm rot="0">
            <a:off x="2383526" y="3737410"/>
            <a:ext cx="13520947" cy="2529808"/>
          </a:xfrm>
          <a:prstGeom prst="rect">
            <a:avLst/>
          </a:prstGeom>
        </p:spPr>
        <p:txBody>
          <a:bodyPr anchor="t" rtlCol="false" tIns="0" lIns="0" bIns="0" rIns="0">
            <a:spAutoFit/>
          </a:bodyPr>
          <a:lstStyle/>
          <a:p>
            <a:pPr algn="ctr">
              <a:lnSpc>
                <a:spcPts val="20686"/>
              </a:lnSpc>
            </a:pPr>
            <a:r>
              <a:rPr lang="en-US" sz="14776">
                <a:solidFill>
                  <a:srgbClr val="FCFCE4"/>
                </a:solidFill>
                <a:latin typeface="Maragsa"/>
                <a:ea typeface="Maragsa"/>
                <a:cs typeface="Maragsa"/>
                <a:sym typeface="Maragsa"/>
              </a:rPr>
              <a:t>MERCI À VOUS!</a:t>
            </a:r>
          </a:p>
        </p:txBody>
      </p:sp>
      <p:sp>
        <p:nvSpPr>
          <p:cNvPr name="TextBox 6" id="6"/>
          <p:cNvSpPr txBox="true"/>
          <p:nvPr/>
        </p:nvSpPr>
        <p:spPr>
          <a:xfrm rot="0">
            <a:off x="5207536" y="6428584"/>
            <a:ext cx="7588718"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Présenté par Fatima ezzahrae Lahdili</a:t>
            </a:r>
          </a:p>
        </p:txBody>
      </p:sp>
      <p:sp>
        <p:nvSpPr>
          <p:cNvPr name="TextBox 7" id="7"/>
          <p:cNvSpPr txBox="true"/>
          <p:nvPr/>
        </p:nvSpPr>
        <p:spPr>
          <a:xfrm rot="0">
            <a:off x="5157780" y="2716937"/>
            <a:ext cx="7972440" cy="771525"/>
          </a:xfrm>
          <a:prstGeom prst="rect">
            <a:avLst/>
          </a:prstGeom>
        </p:spPr>
        <p:txBody>
          <a:bodyPr anchor="t" rtlCol="false" tIns="0" lIns="0" bIns="0" rIns="0">
            <a:spAutoFit/>
          </a:bodyPr>
          <a:lstStyle/>
          <a:p>
            <a:pPr algn="ctr">
              <a:lnSpc>
                <a:spcPts val="6299"/>
              </a:lnSpc>
            </a:pPr>
            <a:r>
              <a:rPr lang="en-US" sz="4500">
                <a:solidFill>
                  <a:srgbClr val="FCFCE4"/>
                </a:solidFill>
                <a:latin typeface="Harmattan"/>
                <a:ea typeface="Harmattan"/>
                <a:cs typeface="Harmattan"/>
                <a:sym typeface="Harmattan"/>
              </a:rPr>
              <a:t>Web Full-Stack | mars 2026</a:t>
            </a:r>
          </a:p>
        </p:txBody>
      </p:sp>
      <p:sp>
        <p:nvSpPr>
          <p:cNvPr name="Freeform 8" id="8"/>
          <p:cNvSpPr/>
          <p:nvPr/>
        </p:nvSpPr>
        <p:spPr>
          <a:xfrm flipH="true" flipV="true" rot="-5400000">
            <a:off x="10774804" y="-1198587"/>
            <a:ext cx="5426689" cy="8688298"/>
          </a:xfrm>
          <a:custGeom>
            <a:avLst/>
            <a:gdLst/>
            <a:ahLst/>
            <a:cxnLst/>
            <a:rect r="r" b="b" t="t" l="l"/>
            <a:pathLst>
              <a:path h="8688298" w="5426689">
                <a:moveTo>
                  <a:pt x="5426689" y="8688298"/>
                </a:moveTo>
                <a:lnTo>
                  <a:pt x="0" y="8688298"/>
                </a:lnTo>
                <a:lnTo>
                  <a:pt x="0" y="0"/>
                </a:lnTo>
                <a:lnTo>
                  <a:pt x="5426689" y="0"/>
                </a:lnTo>
                <a:lnTo>
                  <a:pt x="5426689" y="8688298"/>
                </a:lnTo>
                <a:close/>
              </a:path>
            </a:pathLst>
          </a:custGeom>
          <a:blipFill>
            <a:blip r:embed="rId6">
              <a:extLst>
                <a:ext uri="{96DAC541-7B7A-43D3-8B79-37D633B846F1}">
                  <asvg:svgBlip xmlns:asvg="http://schemas.microsoft.com/office/drawing/2016/SVG/main" r:embed="rId7"/>
                </a:ext>
              </a:extLst>
            </a:blip>
            <a:stretch>
              <a:fillRect l="0" t="0" r="-26607" b="-1152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DAHGq_4s8PA</dc:identifier>
  <dcterms:modified xsi:type="dcterms:W3CDTF">2011-08-01T06:04:30Z</dcterms:modified>
  <cp:revision>1</cp:revision>
  <dc:title>soutenance fati WFS203</dc:title>
</cp:coreProperties>
</file>